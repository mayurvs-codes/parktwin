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7"/>
  </p:notesMasterIdLst>
  <p:sldIdLst>
    <p:sldId id="256" r:id="rId2"/>
    <p:sldId id="278" r:id="rId3"/>
    <p:sldId id="288" r:id="rId4"/>
    <p:sldId id="289" r:id="rId5"/>
    <p:sldId id="290" r:id="rId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5EeC2gjgakrh3J0gSWCKAEdH8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1" d="100"/>
          <a:sy n="61" d="100"/>
        </p:scale>
        <p:origin x="-760" y="-5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26" Type="http://customschemas.google.com/relationships/presentationmetadata" Target="meta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Good morning. I'm presenting ParkTwin AI — an end-to-end, AI-powered Smart Parking Ecosystem. This is not just a plate-reader; it's a complete platform that detects vehicles, tracks them, recognizes plates, understands parking occupancy, and presents it all on a dashboard. Over the next few minutes I'll cover the problem, our methodology, results, and what's next.</a:t>
            </a:r>
          </a:p>
        </p:txBody>
      </p:sp>
      <p:sp>
        <p:nvSpPr>
          <p:cNvPr id="87" name="Google Shape;87;p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Title of the Project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t>The problem is straightforward: as cities grow, parking is still managed manually and in silos. Drivers can't easily find spaces, occupancy is monitored by hand, and there's no real-time or centralized view — so infrastructure is used inefficiently and decisions lack data. Our objective was to build ParkTwin AI: one unified ecosystem that automates recognition, occupancy, tracking, intelligence, analytics, and visualization.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t>Methodology: ParkTwin AI is built as four layers. Input from CCTV, IP, or recorded video; an AI Perception layer doing detection, multi-object tracking, plate detection and ANPR; a Parking Intelligence layer for slot occupancy, vehicle-to-slot association, entry and exit, and duration; and a Smart Parking Platform with dashboard, visualization, vehicle intelligence, analytics, reports and a demo mode. Technically it's React, Next.js and TypeScript up front, Python and FastAPI behind, with YOLO, ByteTrack and PaddleOCR for models, shipped via Docker.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t>Results: we implemented the full chain — detection, tracking, ANPR, slot monitoring, the intelligence engine, dashboards, event timeline and demo mode. The outcomes: a real end-to-end ecosystem that is modular and scalable, with automated recognition and a presentation-ready demo. Next we plan live CCTV and multi-camera support, cloud deployment, predictive analytics, and a Digital Twin.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r>
              <a:t>To close: ParkTwin AI shows how AI, computer vision and modern web tech combine into an end-to-end smart parking ecosystem — detection, tracking, plate recognition, intelligence and visualization in one platform. Key takeaways: end-to-end ecosystem, AI automation, modular architecture, interactive monitoring, and future-ready design. Thank you — I'm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 name="Google Shape;2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9"/>
          <p:cNvSpPr>
            <a:spLocks noGrp="1"/>
          </p:cNvSpPr>
          <p:nvPr>
            <p:ph type="pic" idx="2"/>
          </p:nvPr>
        </p:nvSpPr>
        <p:spPr>
          <a:xfrm>
            <a:off x="5183188" y="987425"/>
            <a:ext cx="6172200" cy="4873625"/>
          </a:xfrm>
          <a:prstGeom prst="rect">
            <a:avLst/>
          </a:prstGeom>
          <a:noFill/>
          <a:ln>
            <a:noFill/>
          </a:ln>
        </p:spPr>
      </p:sp>
      <p:sp>
        <p:nvSpPr>
          <p:cNvPr id="68" name="Google Shape;68;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0" y="1545536"/>
            <a:ext cx="12192000" cy="1508065"/>
          </a:xfrm>
          <a:prstGeom prst="rect">
            <a:avLst/>
          </a:prstGeom>
          <a:noFill/>
          <a:ln>
            <a:noFill/>
          </a:ln>
        </p:spPr>
        <p:txBody>
          <a:bodyPr spcFirstLastPara="1" wrap="square" lIns="91425" tIns="45700" rIns="91425" bIns="45700" anchor="t" anchorCtr="0">
            <a:spAutoFit/>
          </a:bodyPr>
          <a:lstStyle/>
          <a:p>
            <a:pPr algn="ctr">
              <a:buClr>
                <a:srgbClr val="323C71"/>
              </a:buClr>
              <a:buSzPts val="1800"/>
              <a:buFont typeface="Arial" pitchFamily="34" charset="0"/>
              <a:buNone/>
            </a:pPr>
            <a:r>
              <a:rPr lang="en-US" altLang="en-US" sz="2800" b="1" dirty="0" smtClean="0">
                <a:solidFill>
                  <a:srgbClr val="323C71"/>
                </a:solidFill>
              </a:rPr>
              <a:t>Center for Data Science and Applied Machine Learning (CDSAML</a:t>
            </a:r>
            <a:r>
              <a:rPr lang="en-US" altLang="en-US" sz="2800" b="1" dirty="0" smtClean="0">
                <a:solidFill>
                  <a:srgbClr val="323C71"/>
                </a:solidFill>
              </a:rPr>
              <a:t>)</a:t>
            </a:r>
          </a:p>
          <a:p>
            <a:pPr algn="ctr">
              <a:buClr>
                <a:srgbClr val="EF7F1A"/>
              </a:buClr>
              <a:buSzPts val="2800"/>
              <a:buFont typeface="Arial" pitchFamily="34" charset="0"/>
              <a:buNone/>
            </a:pPr>
            <a:r>
              <a:rPr lang="en-GB" altLang="en-US" sz="4000" b="1" dirty="0" err="1" smtClean="0">
                <a:solidFill>
                  <a:srgbClr val="EF7F1A"/>
                </a:solidFill>
              </a:rPr>
              <a:t>TechNova</a:t>
            </a:r>
            <a:r>
              <a:rPr lang="en-GB" altLang="en-US" sz="4000" b="1" dirty="0" smtClean="0">
                <a:solidFill>
                  <a:srgbClr val="EF7F1A"/>
                </a:solidFill>
              </a:rPr>
              <a:t> - 2026</a:t>
            </a:r>
          </a:p>
          <a:p>
            <a:pPr algn="ctr">
              <a:buClr>
                <a:srgbClr val="EF7F1A"/>
              </a:buClr>
              <a:buSzPts val="2800"/>
            </a:pPr>
            <a:r>
              <a:rPr lang="en-GB" altLang="en-US" sz="2000" b="1" dirty="0" smtClean="0">
                <a:solidFill>
                  <a:srgbClr val="323C71"/>
                </a:solidFill>
              </a:rPr>
              <a:t>Summer </a:t>
            </a:r>
            <a:r>
              <a:rPr lang="en-GB" altLang="en-US" sz="2000" b="1" dirty="0" smtClean="0">
                <a:solidFill>
                  <a:srgbClr val="323C71"/>
                </a:solidFill>
              </a:rPr>
              <a:t>Programme</a:t>
            </a:r>
            <a:r>
              <a:rPr lang="en-IN" altLang="en-US" sz="2400" b="1" dirty="0" smtClean="0">
                <a:solidFill>
                  <a:srgbClr val="323C71"/>
                </a:solidFill>
              </a:rPr>
              <a:t> </a:t>
            </a:r>
            <a:r>
              <a:rPr lang="en-GB" altLang="en-US" sz="2000" b="1" dirty="0" smtClean="0">
                <a:solidFill>
                  <a:srgbClr val="EF7F1A"/>
                </a:solidFill>
              </a:rPr>
              <a:t>For B.Tech </a:t>
            </a:r>
            <a:r>
              <a:rPr lang="en-GB" altLang="en-US" sz="2000" b="1" dirty="0" smtClean="0">
                <a:solidFill>
                  <a:srgbClr val="EF7F1A"/>
                </a:solidFill>
              </a:rPr>
              <a:t>First year completed Students, </a:t>
            </a:r>
            <a:r>
              <a:rPr lang="en-IN" altLang="en-US" sz="2000" b="1" dirty="0" smtClean="0">
                <a:solidFill>
                  <a:srgbClr val="EF7F1A"/>
                </a:solidFill>
              </a:rPr>
              <a:t>June - July, </a:t>
            </a:r>
            <a:r>
              <a:rPr lang="en-IN" altLang="en-US" sz="2000" b="1" dirty="0" smtClean="0">
                <a:solidFill>
                  <a:srgbClr val="EF7F1A"/>
                </a:solidFill>
              </a:rPr>
              <a:t>2026</a:t>
            </a:r>
            <a:endParaRPr lang="en-IN" altLang="en-US" sz="2000" b="1" dirty="0" smtClean="0">
              <a:solidFill>
                <a:srgbClr val="EF7F1A"/>
              </a:solidFill>
            </a:endParaRPr>
          </a:p>
        </p:txBody>
      </p:sp>
      <p:sp>
        <p:nvSpPr>
          <p:cNvPr id="90" name="Google Shape;90;p1"/>
          <p:cNvSpPr txBox="1"/>
          <p:nvPr/>
        </p:nvSpPr>
        <p:spPr>
          <a:xfrm>
            <a:off x="0" y="3127248"/>
            <a:ext cx="12192000" cy="886968"/>
          </a:xfrm>
          <a:prstGeom prst="rect">
            <a:avLst/>
          </a:prstGeom>
          <a:noFill/>
          <a:ln>
            <a:noFill/>
          </a:ln>
        </p:spPr>
        <p:txBody>
          <a:bodyPr spcFirstLastPara="1" wrap="square" lIns="91425" tIns="45700" rIns="91425" bIns="45700" anchor="ctr" anchorCtr="0">
            <a:noAutofit/>
          </a:bodyPr>
          <a:lstStyle/>
          <a:p>
            <a:pPr algn="ctr">
              <a:spcAft>
                <a:spcPts val="200"/>
              </a:spcAft>
            </a:pPr>
            <a:r>
              <a:rPr sz="3000" b="1">
                <a:solidFill>
                  <a:srgbClr val="323C71"/>
                </a:solidFill>
              </a:rPr>
              <a:t>ParkTwin AI</a:t>
            </a:r>
          </a:p>
          <a:p>
            <a:pPr algn="ctr">
              <a:spcAft>
                <a:spcPts val="0"/>
              </a:spcAft>
            </a:pPr>
            <a:r>
              <a:rPr sz="1800" b="1">
                <a:solidFill>
                  <a:srgbClr val="323C71"/>
                </a:solidFill>
              </a:rPr>
              <a:t>An End-to-End AI-Powered Smart Parking Ecosystem</a:t>
            </a:r>
          </a:p>
        </p:txBody>
      </p:sp>
      <p:sp>
        <p:nvSpPr>
          <p:cNvPr id="5" name="Google Shape;90;p1"/>
          <p:cNvSpPr txBox="1"/>
          <p:nvPr/>
        </p:nvSpPr>
        <p:spPr>
          <a:xfrm>
            <a:off x="0" y="3908589"/>
            <a:ext cx="4628271" cy="696350"/>
          </a:xfrm>
          <a:prstGeom prst="rect">
            <a:avLst/>
          </a:prstGeom>
          <a:noFill/>
          <a:ln>
            <a:noFill/>
          </a:ln>
        </p:spPr>
        <p:txBody>
          <a:bodyPr spcFirstLastPara="1" wrap="square" lIns="91425" tIns="45700" rIns="91425" bIns="45700" anchor="t" anchorCtr="0">
            <a:noAutofit/>
          </a:bodyPr>
          <a:lstStyle/>
          <a:p>
            <a:pPr algn="l">
              <a:spcAft>
                <a:spcPts val="200"/>
              </a:spcAft>
            </a:pPr>
            <a:r>
              <a:rPr sz="1800" b="1">
                <a:solidFill>
                  <a:srgbClr val="323C71"/>
                </a:solidFill>
              </a:rPr>
              <a:t>Project Team:</a:t>
            </a:r>
          </a:p>
          <a:p>
            <a:pPr algn="l">
              <a:spcAft>
                <a:spcPts val="100"/>
              </a:spcAft>
            </a:pPr>
            <a:r>
              <a:rPr sz="1600" b="1">
                <a:solidFill>
                  <a:srgbClr val="323C71"/>
                </a:solidFill>
              </a:rPr>
              <a:t>SRN_Name (Replace with your name)</a:t>
            </a:r>
          </a:p>
          <a:p>
            <a:pPr algn="l">
              <a:spcAft>
                <a:spcPts val="100"/>
              </a:spcAft>
            </a:pPr>
            <a:r>
              <a:rPr sz="1600" b="1">
                <a:solidFill>
                  <a:srgbClr val="323C71"/>
                </a:solidFill>
              </a:rPr>
              <a:t>SRN_Name (Replace with your name)</a:t>
            </a:r>
          </a:p>
          <a:p>
            <a:pPr algn="l">
              <a:spcAft>
                <a:spcPts val="0"/>
              </a:spcAft>
            </a:pPr>
            <a:r>
              <a:rPr sz="1600" b="1">
                <a:solidFill>
                  <a:srgbClr val="323C71"/>
                </a:solidFill>
              </a:rPr>
              <a:t>SRN_Name (Replace with your name)</a:t>
            </a:r>
          </a:p>
        </p:txBody>
      </p:sp>
      <p:sp>
        <p:nvSpPr>
          <p:cNvPr id="6" name="Google Shape;90;p1"/>
          <p:cNvSpPr txBox="1"/>
          <p:nvPr/>
        </p:nvSpPr>
        <p:spPr>
          <a:xfrm>
            <a:off x="7723163" y="3800569"/>
            <a:ext cx="4468837" cy="2070293"/>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altLang="en-US" sz="1800" b="1" dirty="0">
                <a:solidFill>
                  <a:schemeClr val="accent2"/>
                </a:solidFill>
                <a:sym typeface="Trebuchet MS"/>
              </a:rPr>
              <a:t>Project </a:t>
            </a:r>
            <a:r>
              <a:rPr lang="en-US" altLang="en-US" sz="1800" b="1" dirty="0" smtClean="0">
                <a:solidFill>
                  <a:schemeClr val="accent2"/>
                </a:solidFill>
                <a:sym typeface="Trebuchet MS"/>
              </a:rPr>
              <a:t>Guide/s:</a:t>
            </a:r>
            <a:endParaRPr lang="en-US" altLang="en-US" sz="1800" b="1" dirty="0">
              <a:solidFill>
                <a:schemeClr val="accent2"/>
              </a:solidFill>
              <a:sym typeface="Trebuchet MS"/>
            </a:endParaRPr>
          </a:p>
          <a:p>
            <a:pPr marL="0" marR="0" lvl="0" indent="0" algn="l" rtl="0">
              <a:lnSpc>
                <a:spcPct val="150000"/>
              </a:lnSpc>
              <a:spcBef>
                <a:spcPts val="0"/>
              </a:spcBef>
              <a:spcAft>
                <a:spcPts val="0"/>
              </a:spcAft>
              <a:buNone/>
            </a:pPr>
            <a:r>
              <a:rPr lang="en-US" altLang="en-US" sz="1600" b="1" dirty="0">
                <a:solidFill>
                  <a:srgbClr val="323C71"/>
                </a:solidFill>
                <a:sym typeface="Trebuchet MS"/>
              </a:rPr>
              <a:t>Name of the </a:t>
            </a:r>
            <a:r>
              <a:rPr lang="en-US" altLang="en-US" sz="1600" b="1" dirty="0" smtClean="0">
                <a:solidFill>
                  <a:srgbClr val="323C71"/>
                </a:solidFill>
                <a:sym typeface="Trebuchet MS"/>
              </a:rPr>
              <a:t>guide(Replace this)</a:t>
            </a:r>
            <a:endParaRPr lang="en-US" altLang="en-US" sz="1600" b="1" dirty="0">
              <a:solidFill>
                <a:srgbClr val="323C71"/>
              </a:solidFill>
              <a:sym typeface="Trebuchet MS"/>
            </a:endParaRPr>
          </a:p>
          <a:p>
            <a:pPr marL="0" marR="0" lvl="0" indent="0" algn="l" rtl="0">
              <a:lnSpc>
                <a:spcPct val="150000"/>
              </a:lnSpc>
              <a:spcBef>
                <a:spcPts val="0"/>
              </a:spcBef>
              <a:spcAft>
                <a:spcPts val="0"/>
              </a:spcAft>
              <a:buNone/>
            </a:pPr>
            <a:r>
              <a:rPr lang="en-US" altLang="en-US" sz="1600" b="1" dirty="0" smtClean="0">
                <a:solidFill>
                  <a:srgbClr val="323C71"/>
                </a:solidFill>
                <a:sym typeface="Trebuchet MS"/>
              </a:rPr>
              <a:t>Designation(Check in website or ask the Faculty)</a:t>
            </a:r>
          </a:p>
          <a:p>
            <a:pPr marL="0" marR="0" lvl="0" indent="0" algn="l" rtl="0">
              <a:lnSpc>
                <a:spcPct val="150000"/>
              </a:lnSpc>
              <a:spcBef>
                <a:spcPts val="0"/>
              </a:spcBef>
              <a:spcAft>
                <a:spcPts val="0"/>
              </a:spcAft>
              <a:buNone/>
            </a:pPr>
            <a:r>
              <a:rPr lang="en-IN" altLang="en-US" sz="1800" b="1" dirty="0" smtClean="0">
                <a:solidFill>
                  <a:schemeClr val="accent2"/>
                </a:solidFill>
                <a:sym typeface="Trebuchet MS"/>
              </a:rPr>
              <a:t>Master </a:t>
            </a:r>
            <a:r>
              <a:rPr lang="en-IN" altLang="en-US" sz="1800" b="1" dirty="0" smtClean="0">
                <a:solidFill>
                  <a:schemeClr val="accent2"/>
                </a:solidFill>
                <a:sym typeface="Trebuchet MS"/>
              </a:rPr>
              <a:t>Mentor:</a:t>
            </a:r>
          </a:p>
          <a:p>
            <a:pPr>
              <a:lnSpc>
                <a:spcPct val="150000"/>
              </a:lnSpc>
            </a:pPr>
            <a:r>
              <a:rPr lang="en-IN" altLang="en-US" sz="1600" b="1" dirty="0" smtClean="0">
                <a:solidFill>
                  <a:srgbClr val="323C71"/>
                </a:solidFill>
                <a:sym typeface="Trebuchet MS"/>
              </a:rPr>
              <a:t>Dr. </a:t>
            </a:r>
            <a:r>
              <a:rPr lang="en-IN" altLang="en-US" sz="1600" b="1" dirty="0" err="1" smtClean="0">
                <a:solidFill>
                  <a:srgbClr val="323C71"/>
                </a:solidFill>
                <a:sym typeface="Trebuchet MS"/>
              </a:rPr>
              <a:t>Shylaja</a:t>
            </a:r>
            <a:r>
              <a:rPr lang="en-IN" altLang="en-US" sz="1600" b="1" dirty="0" smtClean="0">
                <a:solidFill>
                  <a:srgbClr val="323C71"/>
                </a:solidFill>
                <a:sym typeface="Trebuchet MS"/>
              </a:rPr>
              <a:t> S </a:t>
            </a:r>
            <a:r>
              <a:rPr lang="en-IN" altLang="en-US" sz="1600" b="1" dirty="0" err="1" smtClean="0">
                <a:solidFill>
                  <a:srgbClr val="323C71"/>
                </a:solidFill>
                <a:sym typeface="Trebuchet MS"/>
              </a:rPr>
              <a:t>S</a:t>
            </a:r>
            <a:r>
              <a:rPr lang="en-IN" altLang="en-US" sz="1600" b="1" dirty="0" smtClean="0">
                <a:solidFill>
                  <a:srgbClr val="323C71"/>
                </a:solidFill>
                <a:sym typeface="Trebuchet MS"/>
              </a:rPr>
              <a:t>,</a:t>
            </a:r>
          </a:p>
          <a:p>
            <a:pPr>
              <a:lnSpc>
                <a:spcPct val="150000"/>
              </a:lnSpc>
            </a:pPr>
            <a:r>
              <a:rPr lang="en-IN" altLang="en-US" sz="1600" b="1" dirty="0" smtClean="0">
                <a:solidFill>
                  <a:srgbClr val="323C71"/>
                </a:solidFill>
                <a:sym typeface="Trebuchet MS"/>
              </a:rPr>
              <a:t>Director </a:t>
            </a:r>
            <a:r>
              <a:rPr lang="en-IN" altLang="en-US" sz="1600" b="1" dirty="0" smtClean="0">
                <a:solidFill>
                  <a:srgbClr val="323C71"/>
                </a:solidFill>
                <a:sym typeface="Trebuchet MS"/>
              </a:rPr>
              <a:t>- CDSAML </a:t>
            </a:r>
            <a:r>
              <a:rPr lang="en-IN" altLang="en-US" sz="1600" b="1" dirty="0" smtClean="0">
                <a:solidFill>
                  <a:srgbClr val="323C71"/>
                </a:solidFill>
                <a:sym typeface="Trebuchet MS"/>
              </a:rPr>
              <a:t>&amp; </a:t>
            </a:r>
            <a:r>
              <a:rPr lang="en-IN" altLang="en-US" sz="1600" b="1" dirty="0" smtClean="0">
                <a:solidFill>
                  <a:srgbClr val="323C71"/>
                </a:solidFill>
                <a:sym typeface="Trebuchet MS"/>
              </a:rPr>
              <a:t>CCBD, </a:t>
            </a:r>
          </a:p>
          <a:p>
            <a:pPr>
              <a:lnSpc>
                <a:spcPct val="150000"/>
              </a:lnSpc>
            </a:pPr>
            <a:r>
              <a:rPr lang="en-IN" altLang="en-US" sz="1600" b="1" dirty="0" smtClean="0">
                <a:solidFill>
                  <a:srgbClr val="323C71"/>
                </a:solidFill>
                <a:sym typeface="Trebuchet MS"/>
              </a:rPr>
              <a:t>Chairperson - Dept. Of CSE, PESU</a:t>
            </a:r>
            <a:endParaRPr lang="en-US" altLang="en-US" sz="1600" b="1" dirty="0" smtClean="0">
              <a:solidFill>
                <a:srgbClr val="323C71"/>
              </a:solidFill>
              <a:sym typeface="Calibri"/>
            </a:endParaRPr>
          </a:p>
          <a:p>
            <a:pPr marL="0" marR="0" lvl="0" indent="0" algn="l" rtl="0">
              <a:lnSpc>
                <a:spcPct val="150000"/>
              </a:lnSpc>
              <a:spcBef>
                <a:spcPts val="0"/>
              </a:spcBef>
              <a:spcAft>
                <a:spcPts val="0"/>
              </a:spcAft>
              <a:buNone/>
            </a:pPr>
            <a:endParaRPr sz="2400" b="0" i="0" u="none" strike="noStrike" cap="none">
              <a:solidFill>
                <a:srgbClr val="0033CC"/>
              </a:solidFill>
              <a:latin typeface="Trebuchet MS"/>
              <a:ea typeface="Trebuchet MS"/>
              <a:cs typeface="Trebuchet MS"/>
              <a:sym typeface="Trebuchet MS"/>
            </a:endParaRPr>
          </a:p>
          <a:p>
            <a:pPr marL="0" marR="0" lvl="0" indent="0" algn="l" rtl="0">
              <a:lnSpc>
                <a:spcPct val="150000"/>
              </a:lnSpc>
              <a:spcBef>
                <a:spcPts val="0"/>
              </a:spcBef>
              <a:spcAft>
                <a:spcPts val="0"/>
              </a:spcAft>
              <a:buNone/>
            </a:pPr>
            <a:endParaRPr sz="2400" b="0" i="0" u="none" strike="noStrike" cap="none">
              <a:solidFill>
                <a:srgbClr val="0033CC"/>
              </a:solidFill>
              <a:latin typeface="Trebuchet MS"/>
              <a:ea typeface="Trebuchet MS"/>
              <a:cs typeface="Trebuchet MS"/>
              <a:sym typeface="Trebuchet MS"/>
            </a:endParaRPr>
          </a:p>
        </p:txBody>
      </p:sp>
      <p:pic>
        <p:nvPicPr>
          <p:cNvPr id="1026" name="Picture 2" descr="C:\Jan_may_2024\club\PES University - Logo - NEW.jpg"/>
          <p:cNvPicPr>
            <a:picLocks noChangeAspect="1" noChangeArrowheads="1"/>
          </p:cNvPicPr>
          <p:nvPr/>
        </p:nvPicPr>
        <p:blipFill>
          <a:blip r:embed="rId3"/>
          <a:srcRect/>
          <a:stretch>
            <a:fillRect/>
          </a:stretch>
        </p:blipFill>
        <p:spPr bwMode="auto">
          <a:xfrm>
            <a:off x="9826924" y="417196"/>
            <a:ext cx="2039495" cy="1045613"/>
          </a:xfrm>
          <a:prstGeom prst="rect">
            <a:avLst/>
          </a:prstGeom>
          <a:noFill/>
        </p:spPr>
      </p:pic>
      <p:pic>
        <p:nvPicPr>
          <p:cNvPr id="2" name="Picture 2"/>
          <p:cNvPicPr>
            <a:picLocks noChangeAspect="1" noChangeArrowheads="1"/>
          </p:cNvPicPr>
          <p:nvPr/>
        </p:nvPicPr>
        <p:blipFill>
          <a:blip r:embed="rId4"/>
          <a:srcRect/>
          <a:stretch>
            <a:fillRect/>
          </a:stretch>
        </p:blipFill>
        <p:spPr bwMode="auto">
          <a:xfrm>
            <a:off x="541337" y="187902"/>
            <a:ext cx="1173162" cy="1336859"/>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1638300" y="2514600"/>
            <a:ext cx="8915400" cy="4572000"/>
          </a:xfrm>
          <a:prstGeom prst="rect">
            <a:avLst/>
          </a:prstGeom>
          <a:noFill/>
          <a:ln>
            <a:noFill/>
          </a:ln>
        </p:spPr>
        <p:txBody>
          <a:bodyPr spcFirstLastPara="1" wrap="square" lIns="91425" tIns="45700" rIns="91425" bIns="45700" anchor="t" anchorCtr="0">
            <a:noAutofit/>
          </a:bodyPr>
          <a:lstStyle/>
          <a:p>
            <a:pPr marL="685791" marR="0" lvl="0" indent="-190500" algn="just" rtl="0">
              <a:spcBef>
                <a:spcPts val="0"/>
              </a:spcBef>
              <a:spcAft>
                <a:spcPts val="0"/>
              </a:spcAft>
              <a:buClr>
                <a:schemeClr val="dk1"/>
              </a:buClr>
              <a:buSzPts val="2400"/>
              <a:buFont typeface="Noto Sans Symbols"/>
              <a:buNone/>
            </a:pPr>
            <a:endParaRPr sz="2400" b="0" i="0" u="none" strike="noStrike" cap="none">
              <a:solidFill>
                <a:srgbClr val="0033CC"/>
              </a:solidFill>
              <a:latin typeface="Trebuchet MS"/>
              <a:ea typeface="Trebuchet MS"/>
              <a:cs typeface="Trebuchet MS"/>
              <a:sym typeface="Trebuchet MS"/>
            </a:endParaRPr>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
        <p:nvSpPr>
          <p:cNvPr id="11" name="Google Shape;107;p3"/>
          <p:cNvSpPr txBox="1">
            <a:spLocks/>
          </p:cNvSpPr>
          <p:nvPr/>
        </p:nvSpPr>
        <p:spPr>
          <a:xfrm>
            <a:off x="990600" y="1120203"/>
            <a:ext cx="10515600" cy="1325563"/>
          </a:xfrm>
          <a:prstGeom prst="rect">
            <a:avLst/>
          </a:prstGeom>
          <a:noFill/>
          <a:ln>
            <a:noFill/>
          </a:ln>
        </p:spPr>
        <p:txBody>
          <a:bodyPr spcFirstLastPara="1" wrap="square" lIns="91425" tIns="45700" rIns="91425" bIns="45700" anchor="ctr" anchorCtr="0">
            <a:normAutofit/>
          </a:bodyPr>
          <a:lstStyle/>
          <a:p>
            <a:pPr algn="l">
              <a:spcAft>
                <a:spcPts val="0"/>
              </a:spcAft>
            </a:pPr>
            <a:r>
              <a:rPr sz="3200" b="1">
                <a:solidFill>
                  <a:srgbClr val="323C71"/>
                </a:solidFill>
              </a:rPr>
              <a:t>Problem Statement</a:t>
            </a:r>
          </a:p>
        </p:txBody>
      </p:sp>
      <p:sp>
        <p:nvSpPr>
          <p:cNvPr id="14" name="Google Shape;131;p5"/>
          <p:cNvSpPr txBox="1">
            <a:spLocks noGrp="1"/>
          </p:cNvSpPr>
          <p:nvPr>
            <p:ph type="body" idx="1"/>
          </p:nvPr>
        </p:nvSpPr>
        <p:spPr>
          <a:xfrm>
            <a:off x="838200" y="2514599"/>
            <a:ext cx="10515600" cy="3662363"/>
          </a:xfrm>
          <a:prstGeom prst="rect">
            <a:avLst/>
          </a:prstGeom>
          <a:noFill/>
          <a:ln>
            <a:noFill/>
          </a:ln>
        </p:spPr>
        <p:txBody>
          <a:bodyPr spcFirstLastPara="1" wrap="square" lIns="91425" tIns="45700" rIns="91425" bIns="45700" anchor="t" anchorCtr="0">
            <a:normAutofit/>
          </a:bodyPr>
          <a:lstStyle/>
          <a:p>
            <a:pPr algn="l">
              <a:spcAft>
                <a:spcPts val="800"/>
              </a:spcAft>
            </a:pPr>
            <a:r>
              <a:rPr sz="1400" b="0">
                <a:solidFill>
                  <a:srgbClr val="323C71"/>
                </a:solidFill>
              </a:rPr>
              <a:t>As urban areas continue to grow, managing parking facilities has become increasingly challenging. Conventional parking systems rely heavily on manual monitoring and disconnected solutions, resulting in inefficient parking operations and poor user experience.</a:t>
            </a:r>
          </a:p>
          <a:p>
            <a:pPr algn="l">
              <a:spcAft>
                <a:spcPts val="400"/>
              </a:spcAft>
            </a:pPr>
            <a:r>
              <a:rPr sz="1400" b="1">
                <a:solidFill>
                  <a:srgbClr val="323C71"/>
                </a:solidFill>
              </a:rPr>
              <a:t>Key challenges include:</a:t>
            </a:r>
          </a:p>
          <a:p>
            <a:pPr algn="l">
              <a:spcAft>
                <a:spcPts val="300"/>
              </a:spcAft>
            </a:pPr>
            <a:r>
              <a:rPr sz="1400" b="0">
                <a:solidFill>
                  <a:srgbClr val="323C71"/>
                </a:solidFill>
              </a:rPr>
              <a:t>•  Difficulty locating available parking spaces.</a:t>
            </a:r>
          </a:p>
          <a:p>
            <a:pPr algn="l">
              <a:spcAft>
                <a:spcPts val="300"/>
              </a:spcAft>
            </a:pPr>
            <a:r>
              <a:rPr sz="1400" b="0">
                <a:solidFill>
                  <a:srgbClr val="323C71"/>
                </a:solidFill>
              </a:rPr>
              <a:t>•  Manual monitoring of parking occupancy.</a:t>
            </a:r>
          </a:p>
          <a:p>
            <a:pPr algn="l">
              <a:spcAft>
                <a:spcPts val="300"/>
              </a:spcAft>
            </a:pPr>
            <a:r>
              <a:rPr sz="1400" b="0">
                <a:solidFill>
                  <a:srgbClr val="323C71"/>
                </a:solidFill>
              </a:rPr>
              <a:t>•  Inefficient utilization of parking infrastructure.</a:t>
            </a:r>
          </a:p>
          <a:p>
            <a:pPr algn="l">
              <a:spcAft>
                <a:spcPts val="300"/>
              </a:spcAft>
            </a:pPr>
            <a:r>
              <a:rPr sz="1400" b="0">
                <a:solidFill>
                  <a:srgbClr val="323C71"/>
                </a:solidFill>
              </a:rPr>
              <a:t>•  Lack of centralized parking management.</a:t>
            </a:r>
          </a:p>
          <a:p>
            <a:pPr algn="l">
              <a:spcAft>
                <a:spcPts val="300"/>
              </a:spcAft>
            </a:pPr>
            <a:r>
              <a:rPr sz="1400" b="0">
                <a:solidFill>
                  <a:srgbClr val="323C71"/>
                </a:solidFill>
              </a:rPr>
              <a:t>•  Limited real-time visibility of parking status.</a:t>
            </a:r>
          </a:p>
          <a:p>
            <a:pPr algn="l">
              <a:spcAft>
                <a:spcPts val="300"/>
              </a:spcAft>
            </a:pPr>
            <a:r>
              <a:rPr sz="1400" b="0">
                <a:solidFill>
                  <a:srgbClr val="323C71"/>
                </a:solidFill>
              </a:rPr>
              <a:t>•  Difficulty tracking vehicle movement.</a:t>
            </a:r>
          </a:p>
          <a:p>
            <a:pPr algn="l">
              <a:spcAft>
                <a:spcPts val="300"/>
              </a:spcAft>
            </a:pPr>
            <a:r>
              <a:rPr sz="1400" b="0">
                <a:solidFill>
                  <a:srgbClr val="323C71"/>
                </a:solidFill>
              </a:rPr>
              <a:t>•  Lack of operational analytics for decision making.</a:t>
            </a:r>
          </a:p>
          <a:p>
            <a:pPr algn="l">
              <a:spcAft>
                <a:spcPts val="800"/>
              </a:spcAft>
            </a:pPr>
            <a:r>
              <a:rPr sz="1400" b="0">
                <a:solidFill>
                  <a:srgbClr val="323C71"/>
                </a:solidFill>
              </a:rPr>
              <a:t>•  Poor scalability for large parking facilities.</a:t>
            </a:r>
          </a:p>
          <a:p>
            <a:pPr algn="l">
              <a:spcAft>
                <a:spcPts val="400"/>
              </a:spcAft>
            </a:pPr>
            <a:r>
              <a:rPr sz="1400" b="1">
                <a:solidFill>
                  <a:srgbClr val="323C71"/>
                </a:solidFill>
              </a:rPr>
              <a:t>Project Objective</a:t>
            </a:r>
          </a:p>
          <a:p>
            <a:pPr algn="l">
              <a:spcAft>
                <a:spcPts val="0"/>
              </a:spcAft>
            </a:pPr>
            <a:r>
              <a:rPr sz="1400" b="0">
                <a:solidFill>
                  <a:srgbClr val="323C71"/>
                </a:solidFill>
              </a:rPr>
              <a:t>Develop ParkTwin AI, an AI-powered Smart Parking Ecosystem capable of automating vehicle recognition, parking occupancy monitoring, vehicle tracking, parking intelligence, analytics, and visualization through a unified platform.</a:t>
            </a:r>
          </a:p>
        </p:txBody>
      </p:sp>
      <p:pic>
        <p:nvPicPr>
          <p:cNvPr id="12" name="Picture 2" descr="C:\Jan_may_2024\club\PES University - Logo - NEW.jpg"/>
          <p:cNvPicPr>
            <a:picLocks noChangeAspect="1" noChangeArrowheads="1"/>
          </p:cNvPicPr>
          <p:nvPr/>
        </p:nvPicPr>
        <p:blipFill>
          <a:blip r:embed="rId3"/>
          <a:srcRect/>
          <a:stretch>
            <a:fillRect/>
          </a:stretch>
        </p:blipFill>
        <p:spPr bwMode="auto">
          <a:xfrm>
            <a:off x="9826924" y="417196"/>
            <a:ext cx="2039495" cy="1045613"/>
          </a:xfrm>
          <a:prstGeom prst="rect">
            <a:avLst/>
          </a:prstGeom>
          <a:noFill/>
        </p:spPr>
      </p:pic>
      <p:pic>
        <p:nvPicPr>
          <p:cNvPr id="13" name="Picture 2"/>
          <p:cNvPicPr>
            <a:picLocks noChangeAspect="1" noChangeArrowheads="1"/>
          </p:cNvPicPr>
          <p:nvPr/>
        </p:nvPicPr>
        <p:blipFill>
          <a:blip r:embed="rId4"/>
          <a:srcRect/>
          <a:stretch>
            <a:fillRect/>
          </a:stretch>
        </p:blipFill>
        <p:spPr bwMode="auto">
          <a:xfrm>
            <a:off x="541337" y="187902"/>
            <a:ext cx="1173162" cy="1336859"/>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1638300" y="2514600"/>
            <a:ext cx="8915400" cy="4572000"/>
          </a:xfrm>
          <a:prstGeom prst="rect">
            <a:avLst/>
          </a:prstGeom>
          <a:noFill/>
          <a:ln>
            <a:noFill/>
          </a:ln>
        </p:spPr>
        <p:txBody>
          <a:bodyPr spcFirstLastPara="1" wrap="square" lIns="91425" tIns="45700" rIns="91425" bIns="45700" anchor="t" anchorCtr="0">
            <a:noAutofit/>
          </a:bodyPr>
          <a:lstStyle/>
          <a:p>
            <a:pPr marL="685791" marR="0" lvl="0" indent="-190500" algn="just" rtl="0">
              <a:spcBef>
                <a:spcPts val="0"/>
              </a:spcBef>
              <a:spcAft>
                <a:spcPts val="0"/>
              </a:spcAft>
              <a:buClr>
                <a:schemeClr val="dk1"/>
              </a:buClr>
              <a:buSzPts val="2400"/>
              <a:buFont typeface="Noto Sans Symbols"/>
              <a:buNone/>
            </a:pPr>
            <a:endParaRPr sz="2400" b="0" i="0" u="none" strike="noStrike" cap="none">
              <a:solidFill>
                <a:srgbClr val="0033CC"/>
              </a:solidFill>
              <a:latin typeface="Trebuchet MS"/>
              <a:ea typeface="Trebuchet MS"/>
              <a:cs typeface="Trebuchet MS"/>
              <a:sym typeface="Trebuchet MS"/>
            </a:endParaRPr>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sp>
        <p:nvSpPr>
          <p:cNvPr id="11" name="Google Shape;107;p3"/>
          <p:cNvSpPr txBox="1">
            <a:spLocks/>
          </p:cNvSpPr>
          <p:nvPr/>
        </p:nvSpPr>
        <p:spPr>
          <a:xfrm>
            <a:off x="990600" y="1120203"/>
            <a:ext cx="10515600" cy="1325563"/>
          </a:xfrm>
          <a:prstGeom prst="rect">
            <a:avLst/>
          </a:prstGeom>
          <a:noFill/>
          <a:ln>
            <a:noFill/>
          </a:ln>
        </p:spPr>
        <p:txBody>
          <a:bodyPr spcFirstLastPara="1" wrap="square" lIns="91425" tIns="45700" rIns="91425" bIns="45700" anchor="ctr" anchorCtr="0">
            <a:normAutofit/>
          </a:bodyPr>
          <a:lstStyle/>
          <a:p>
            <a:pPr algn="l">
              <a:spcAft>
                <a:spcPts val="0"/>
              </a:spcAft>
            </a:pPr>
            <a:r>
              <a:rPr sz="3200" b="1">
                <a:solidFill>
                  <a:srgbClr val="323C71"/>
                </a:solidFill>
              </a:rPr>
              <a:t>Methodology</a:t>
            </a:r>
          </a:p>
        </p:txBody>
      </p:sp>
      <p:sp>
        <p:nvSpPr>
          <p:cNvPr id="14" name="Google Shape;131;p5"/>
          <p:cNvSpPr txBox="1">
            <a:spLocks noGrp="1"/>
          </p:cNvSpPr>
          <p:nvPr>
            <p:ph type="body" idx="1"/>
          </p:nvPr>
        </p:nvSpPr>
        <p:spPr>
          <a:xfrm>
            <a:off x="838200" y="2514599"/>
            <a:ext cx="10515600" cy="3662363"/>
          </a:xfrm>
          <a:prstGeom prst="rect">
            <a:avLst/>
          </a:prstGeom>
          <a:noFill/>
          <a:ln>
            <a:noFill/>
          </a:ln>
        </p:spPr>
        <p:txBody>
          <a:bodyPr spcFirstLastPara="1" wrap="square" lIns="91425" tIns="45700" rIns="91425" bIns="45700" anchor="t" anchorCtr="0">
            <a:normAutofit/>
          </a:bodyPr>
          <a:lstStyle/>
          <a:p>
            <a:pPr algn="l">
              <a:spcAft>
                <a:spcPts val="500"/>
              </a:spcAft>
            </a:pPr>
            <a:r>
              <a:rPr sz="900" b="0">
                <a:solidFill>
                  <a:srgbClr val="323C71"/>
                </a:solidFill>
              </a:rPr>
              <a:t>ParkTwin AI follows a modular architecture consisting of four major layers.</a:t>
            </a:r>
          </a:p>
          <a:p>
            <a:pPr algn="l">
              <a:spcAft>
                <a:spcPts val="200"/>
              </a:spcAft>
            </a:pPr>
            <a:r>
              <a:rPr sz="1000" b="1">
                <a:solidFill>
                  <a:srgbClr val="323C71"/>
                </a:solidFill>
              </a:rPr>
              <a:t>Input Layer</a:t>
            </a:r>
          </a:p>
          <a:p>
            <a:pPr algn="l">
              <a:spcAft>
                <a:spcPts val="100"/>
              </a:spcAft>
            </a:pPr>
            <a:r>
              <a:rPr sz="900" b="0">
                <a:solidFill>
                  <a:srgbClr val="323C71"/>
                </a:solidFill>
              </a:rPr>
              <a:t>•  CCTV Cameras</a:t>
            </a:r>
          </a:p>
          <a:p>
            <a:pPr algn="l">
              <a:spcAft>
                <a:spcPts val="100"/>
              </a:spcAft>
            </a:pPr>
            <a:r>
              <a:rPr sz="900" b="0">
                <a:solidFill>
                  <a:srgbClr val="323C71"/>
                </a:solidFill>
              </a:rPr>
              <a:t>•  IP Cameras</a:t>
            </a:r>
          </a:p>
          <a:p>
            <a:pPr algn="l">
              <a:spcAft>
                <a:spcPts val="300"/>
              </a:spcAft>
            </a:pPr>
            <a:r>
              <a:rPr sz="900" b="0">
                <a:solidFill>
                  <a:srgbClr val="323C71"/>
                </a:solidFill>
              </a:rPr>
              <a:t>•  Recorded Parking Videos</a:t>
            </a:r>
          </a:p>
          <a:p>
            <a:pPr algn="l">
              <a:spcAft>
                <a:spcPts val="200"/>
              </a:spcAft>
            </a:pPr>
            <a:r>
              <a:rPr sz="1000" b="1">
                <a:solidFill>
                  <a:srgbClr val="323C71"/>
                </a:solidFill>
              </a:rPr>
              <a:t>AI Perception Layer</a:t>
            </a:r>
          </a:p>
          <a:p>
            <a:pPr algn="l">
              <a:spcAft>
                <a:spcPts val="100"/>
              </a:spcAft>
            </a:pPr>
            <a:r>
              <a:rPr sz="900" b="0">
                <a:solidFill>
                  <a:srgbClr val="323C71"/>
                </a:solidFill>
              </a:rPr>
              <a:t>•  Vehicle Detection</a:t>
            </a:r>
          </a:p>
          <a:p>
            <a:pPr algn="l">
              <a:spcAft>
                <a:spcPts val="100"/>
              </a:spcAft>
            </a:pPr>
            <a:r>
              <a:rPr sz="900" b="0">
                <a:solidFill>
                  <a:srgbClr val="323C71"/>
                </a:solidFill>
              </a:rPr>
              <a:t>•  Multi-Object Tracking</a:t>
            </a:r>
          </a:p>
          <a:p>
            <a:pPr algn="l">
              <a:spcAft>
                <a:spcPts val="100"/>
              </a:spcAft>
            </a:pPr>
            <a:r>
              <a:rPr sz="900" b="0">
                <a:solidFill>
                  <a:srgbClr val="323C71"/>
                </a:solidFill>
              </a:rPr>
              <a:t>•  License Plate Detection</a:t>
            </a:r>
          </a:p>
          <a:p>
            <a:pPr algn="l">
              <a:spcAft>
                <a:spcPts val="300"/>
              </a:spcAft>
            </a:pPr>
            <a:r>
              <a:rPr sz="900" b="0">
                <a:solidFill>
                  <a:srgbClr val="323C71"/>
                </a:solidFill>
              </a:rPr>
              <a:t>•  Automatic Number Plate Recognition (ANPR)</a:t>
            </a:r>
          </a:p>
          <a:p>
            <a:pPr algn="l">
              <a:spcAft>
                <a:spcPts val="200"/>
              </a:spcAft>
            </a:pPr>
            <a:r>
              <a:rPr sz="1000" b="1">
                <a:solidFill>
                  <a:srgbClr val="323C71"/>
                </a:solidFill>
              </a:rPr>
              <a:t>Parking Intelligence Layer</a:t>
            </a:r>
          </a:p>
          <a:p>
            <a:pPr algn="l">
              <a:spcAft>
                <a:spcPts val="100"/>
              </a:spcAft>
            </a:pPr>
            <a:r>
              <a:rPr sz="900" b="0">
                <a:solidFill>
                  <a:srgbClr val="323C71"/>
                </a:solidFill>
              </a:rPr>
              <a:t>•  Parking Slot Occupancy Detection</a:t>
            </a:r>
          </a:p>
          <a:p>
            <a:pPr algn="l">
              <a:spcAft>
                <a:spcPts val="100"/>
              </a:spcAft>
            </a:pPr>
            <a:r>
              <a:rPr sz="900" b="0">
                <a:solidFill>
                  <a:srgbClr val="323C71"/>
                </a:solidFill>
              </a:rPr>
              <a:t>•  Vehicle-to-Slot Association</a:t>
            </a:r>
          </a:p>
          <a:p>
            <a:pPr algn="l">
              <a:spcAft>
                <a:spcPts val="100"/>
              </a:spcAft>
            </a:pPr>
            <a:r>
              <a:rPr sz="900" b="0">
                <a:solidFill>
                  <a:srgbClr val="323C71"/>
                </a:solidFill>
              </a:rPr>
              <a:t>•  Entry and Exit Detection</a:t>
            </a:r>
          </a:p>
          <a:p>
            <a:pPr algn="l">
              <a:spcAft>
                <a:spcPts val="300"/>
              </a:spcAft>
            </a:pPr>
            <a:r>
              <a:rPr sz="900" b="0">
                <a:solidFill>
                  <a:srgbClr val="323C71"/>
                </a:solidFill>
              </a:rPr>
              <a:t>•  Parking Duration Monitoring</a:t>
            </a:r>
          </a:p>
          <a:p>
            <a:pPr algn="l">
              <a:spcAft>
                <a:spcPts val="200"/>
              </a:spcAft>
            </a:pPr>
            <a:r>
              <a:rPr sz="1000" b="1">
                <a:solidFill>
                  <a:srgbClr val="323C71"/>
                </a:solidFill>
              </a:rPr>
              <a:t>Smart Parking Platform</a:t>
            </a:r>
          </a:p>
          <a:p>
            <a:pPr algn="l">
              <a:spcAft>
                <a:spcPts val="100"/>
              </a:spcAft>
            </a:pPr>
            <a:r>
              <a:rPr sz="900" b="0">
                <a:solidFill>
                  <a:srgbClr val="323C71"/>
                </a:solidFill>
              </a:rPr>
              <a:t>•  Dashboard</a:t>
            </a:r>
          </a:p>
          <a:p>
            <a:pPr algn="l">
              <a:spcAft>
                <a:spcPts val="100"/>
              </a:spcAft>
            </a:pPr>
            <a:r>
              <a:rPr sz="900" b="0">
                <a:solidFill>
                  <a:srgbClr val="323C71"/>
                </a:solidFill>
              </a:rPr>
              <a:t>•  Parking Visualization</a:t>
            </a:r>
          </a:p>
          <a:p>
            <a:pPr algn="l">
              <a:spcAft>
                <a:spcPts val="100"/>
              </a:spcAft>
            </a:pPr>
            <a:r>
              <a:rPr sz="900" b="0">
                <a:solidFill>
                  <a:srgbClr val="323C71"/>
                </a:solidFill>
              </a:rPr>
              <a:t>•  Vehicle Intelligence</a:t>
            </a:r>
          </a:p>
          <a:p>
            <a:pPr algn="l">
              <a:spcAft>
                <a:spcPts val="100"/>
              </a:spcAft>
            </a:pPr>
            <a:r>
              <a:rPr sz="900" b="0">
                <a:solidFill>
                  <a:srgbClr val="323C71"/>
                </a:solidFill>
              </a:rPr>
              <a:t>•  Analytics</a:t>
            </a:r>
          </a:p>
          <a:p>
            <a:pPr algn="l">
              <a:spcAft>
                <a:spcPts val="100"/>
              </a:spcAft>
            </a:pPr>
            <a:r>
              <a:rPr sz="900" b="0">
                <a:solidFill>
                  <a:srgbClr val="323C71"/>
                </a:solidFill>
              </a:rPr>
              <a:t>•  Reports</a:t>
            </a:r>
          </a:p>
          <a:p>
            <a:pPr algn="l">
              <a:spcAft>
                <a:spcPts val="300"/>
              </a:spcAft>
            </a:pPr>
            <a:r>
              <a:rPr sz="900" b="0">
                <a:solidFill>
                  <a:srgbClr val="323C71"/>
                </a:solidFill>
              </a:rPr>
              <a:t>•  Demo Mode</a:t>
            </a:r>
          </a:p>
          <a:p>
            <a:pPr algn="l">
              <a:spcAft>
                <a:spcPts val="200"/>
              </a:spcAft>
            </a:pPr>
            <a:r>
              <a:rPr sz="1000" b="1">
                <a:solidFill>
                  <a:srgbClr val="323C71"/>
                </a:solidFill>
              </a:rPr>
              <a:t>Technology Stack</a:t>
            </a:r>
          </a:p>
          <a:p>
            <a:pPr algn="l">
              <a:spcAft>
                <a:spcPts val="100"/>
              </a:spcAft>
            </a:pPr>
            <a:r>
              <a:rPr sz="900" b="0">
                <a:solidFill>
                  <a:srgbClr val="323C71"/>
                </a:solidFill>
              </a:rPr>
              <a:t>Frontend: React, Next.js, TypeScript</a:t>
            </a:r>
          </a:p>
          <a:p>
            <a:pPr algn="l">
              <a:spcAft>
                <a:spcPts val="100"/>
              </a:spcAft>
            </a:pPr>
            <a:r>
              <a:rPr sz="900" b="0">
                <a:solidFill>
                  <a:srgbClr val="323C71"/>
                </a:solidFill>
              </a:rPr>
              <a:t>Backend: Python, FastAPI</a:t>
            </a:r>
          </a:p>
          <a:p>
            <a:pPr algn="l">
              <a:spcAft>
                <a:spcPts val="100"/>
              </a:spcAft>
            </a:pPr>
            <a:r>
              <a:rPr sz="900" b="0">
                <a:solidFill>
                  <a:srgbClr val="323C71"/>
                </a:solidFill>
              </a:rPr>
              <a:t>AI Models: YOLO, ByteTrack, PaddleOCR</a:t>
            </a:r>
          </a:p>
          <a:p>
            <a:pPr algn="l">
              <a:spcAft>
                <a:spcPts val="0"/>
              </a:spcAft>
            </a:pPr>
            <a:r>
              <a:rPr sz="900" b="0">
                <a:solidFill>
                  <a:srgbClr val="323C71"/>
                </a:solidFill>
              </a:rPr>
              <a:t>Deployment: Docker</a:t>
            </a:r>
          </a:p>
        </p:txBody>
      </p:sp>
      <p:pic>
        <p:nvPicPr>
          <p:cNvPr id="12" name="Picture 2" descr="C:\Jan_may_2024\club\PES University - Logo - NEW.jpg"/>
          <p:cNvPicPr>
            <a:picLocks noChangeAspect="1" noChangeArrowheads="1"/>
          </p:cNvPicPr>
          <p:nvPr/>
        </p:nvPicPr>
        <p:blipFill>
          <a:blip r:embed="rId3"/>
          <a:srcRect/>
          <a:stretch>
            <a:fillRect/>
          </a:stretch>
        </p:blipFill>
        <p:spPr bwMode="auto">
          <a:xfrm>
            <a:off x="9826924" y="417196"/>
            <a:ext cx="2039495" cy="1045613"/>
          </a:xfrm>
          <a:prstGeom prst="rect">
            <a:avLst/>
          </a:prstGeom>
          <a:noFill/>
        </p:spPr>
      </p:pic>
      <p:pic>
        <p:nvPicPr>
          <p:cNvPr id="13" name="Picture 2"/>
          <p:cNvPicPr>
            <a:picLocks noChangeAspect="1" noChangeArrowheads="1"/>
          </p:cNvPicPr>
          <p:nvPr/>
        </p:nvPicPr>
        <p:blipFill>
          <a:blip r:embed="rId4"/>
          <a:srcRect/>
          <a:stretch>
            <a:fillRect/>
          </a:stretch>
        </p:blipFill>
        <p:spPr bwMode="auto">
          <a:xfrm>
            <a:off x="541337" y="187902"/>
            <a:ext cx="1173162" cy="1336859"/>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1638300" y="2514600"/>
            <a:ext cx="8915400" cy="4572000"/>
          </a:xfrm>
          <a:prstGeom prst="rect">
            <a:avLst/>
          </a:prstGeom>
          <a:noFill/>
          <a:ln>
            <a:noFill/>
          </a:ln>
        </p:spPr>
        <p:txBody>
          <a:bodyPr spcFirstLastPara="1" wrap="square" lIns="91425" tIns="45700" rIns="91425" bIns="45700" anchor="t" anchorCtr="0">
            <a:noAutofit/>
          </a:bodyPr>
          <a:lstStyle/>
          <a:p>
            <a:pPr marL="685791" marR="0" lvl="0" indent="-190500" algn="just" rtl="0">
              <a:spcBef>
                <a:spcPts val="0"/>
              </a:spcBef>
              <a:spcAft>
                <a:spcPts val="0"/>
              </a:spcAft>
              <a:buClr>
                <a:schemeClr val="dk1"/>
              </a:buClr>
              <a:buSzPts val="2400"/>
              <a:buFont typeface="Noto Sans Symbols"/>
              <a:buNone/>
            </a:pPr>
            <a:endParaRPr sz="2400" b="0" i="0" u="none" strike="noStrike" cap="none">
              <a:solidFill>
                <a:srgbClr val="0033CC"/>
              </a:solidFill>
              <a:latin typeface="Trebuchet MS"/>
              <a:ea typeface="Trebuchet MS"/>
              <a:cs typeface="Trebuchet MS"/>
              <a:sym typeface="Trebuchet MS"/>
            </a:endParaRPr>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a:t>
            </a:fld>
            <a:endParaRPr/>
          </a:p>
        </p:txBody>
      </p:sp>
      <p:sp>
        <p:nvSpPr>
          <p:cNvPr id="11" name="Google Shape;107;p3"/>
          <p:cNvSpPr txBox="1">
            <a:spLocks/>
          </p:cNvSpPr>
          <p:nvPr/>
        </p:nvSpPr>
        <p:spPr>
          <a:xfrm>
            <a:off x="990600" y="1120203"/>
            <a:ext cx="10515600" cy="1325563"/>
          </a:xfrm>
          <a:prstGeom prst="rect">
            <a:avLst/>
          </a:prstGeom>
          <a:noFill/>
          <a:ln>
            <a:noFill/>
          </a:ln>
        </p:spPr>
        <p:txBody>
          <a:bodyPr spcFirstLastPara="1" wrap="square" lIns="91425" tIns="45700" rIns="91425" bIns="45700" anchor="ctr" anchorCtr="0">
            <a:normAutofit/>
          </a:bodyPr>
          <a:lstStyle/>
          <a:p>
            <a:pPr algn="l">
              <a:spcAft>
                <a:spcPts val="0"/>
              </a:spcAft>
            </a:pPr>
            <a:r>
              <a:rPr sz="3200" b="1">
                <a:solidFill>
                  <a:srgbClr val="323C71"/>
                </a:solidFill>
              </a:rPr>
              <a:t>Results</a:t>
            </a:r>
          </a:p>
        </p:txBody>
      </p:sp>
      <p:sp>
        <p:nvSpPr>
          <p:cNvPr id="14" name="Google Shape;131;p5"/>
          <p:cNvSpPr txBox="1">
            <a:spLocks noGrp="1"/>
          </p:cNvSpPr>
          <p:nvPr>
            <p:ph type="body" idx="1"/>
          </p:nvPr>
        </p:nvSpPr>
        <p:spPr>
          <a:xfrm>
            <a:off x="838200" y="2514599"/>
            <a:ext cx="10515600" cy="3662363"/>
          </a:xfrm>
          <a:prstGeom prst="rect">
            <a:avLst/>
          </a:prstGeom>
          <a:noFill/>
          <a:ln>
            <a:noFill/>
          </a:ln>
        </p:spPr>
        <p:txBody>
          <a:bodyPr spcFirstLastPara="1" wrap="square" lIns="91425" tIns="45700" rIns="91425" bIns="45700" anchor="t" anchorCtr="0">
            <a:normAutofit/>
          </a:bodyPr>
          <a:lstStyle/>
          <a:p>
            <a:pPr algn="l">
              <a:spcAft>
                <a:spcPts val="200"/>
              </a:spcAft>
            </a:pPr>
            <a:r>
              <a:rPr sz="1200" b="1">
                <a:solidFill>
                  <a:srgbClr val="323C71"/>
                </a:solidFill>
              </a:rPr>
              <a:t>Successfully Implemented Modules</a:t>
            </a:r>
          </a:p>
          <a:p>
            <a:pPr algn="l">
              <a:spcAft>
                <a:spcPts val="100"/>
              </a:spcAft>
            </a:pPr>
            <a:r>
              <a:rPr sz="1100" b="0">
                <a:solidFill>
                  <a:srgbClr val="323C71"/>
                </a:solidFill>
              </a:rPr>
              <a:t>•  Vehicle Detection</a:t>
            </a:r>
          </a:p>
          <a:p>
            <a:pPr algn="l">
              <a:spcAft>
                <a:spcPts val="100"/>
              </a:spcAft>
            </a:pPr>
            <a:r>
              <a:rPr sz="1100" b="0">
                <a:solidFill>
                  <a:srgbClr val="323C71"/>
                </a:solidFill>
              </a:rPr>
              <a:t>•  Vehicle Tracking</a:t>
            </a:r>
          </a:p>
          <a:p>
            <a:pPr algn="l">
              <a:spcAft>
                <a:spcPts val="100"/>
              </a:spcAft>
            </a:pPr>
            <a:r>
              <a:rPr sz="1100" b="0">
                <a:solidFill>
                  <a:srgbClr val="323C71"/>
                </a:solidFill>
              </a:rPr>
              <a:t>•  Automatic Number Plate Recognition</a:t>
            </a:r>
          </a:p>
          <a:p>
            <a:pPr algn="l">
              <a:spcAft>
                <a:spcPts val="100"/>
              </a:spcAft>
            </a:pPr>
            <a:r>
              <a:rPr sz="1100" b="0">
                <a:solidFill>
                  <a:srgbClr val="323C71"/>
                </a:solidFill>
              </a:rPr>
              <a:t>•  Parking Slot Occupancy Monitoring</a:t>
            </a:r>
          </a:p>
          <a:p>
            <a:pPr algn="l">
              <a:spcAft>
                <a:spcPts val="100"/>
              </a:spcAft>
            </a:pPr>
            <a:r>
              <a:rPr sz="1100" b="0">
                <a:solidFill>
                  <a:srgbClr val="323C71"/>
                </a:solidFill>
              </a:rPr>
              <a:t>•  Parking Intelligence Engine</a:t>
            </a:r>
          </a:p>
          <a:p>
            <a:pPr algn="l">
              <a:spcAft>
                <a:spcPts val="100"/>
              </a:spcAft>
            </a:pPr>
            <a:r>
              <a:rPr sz="1100" b="0">
                <a:solidFill>
                  <a:srgbClr val="323C71"/>
                </a:solidFill>
              </a:rPr>
              <a:t>•  Vehicle Intelligence Dashboard</a:t>
            </a:r>
          </a:p>
          <a:p>
            <a:pPr algn="l">
              <a:spcAft>
                <a:spcPts val="100"/>
              </a:spcAft>
            </a:pPr>
            <a:r>
              <a:rPr sz="1100" b="0">
                <a:solidFill>
                  <a:srgbClr val="323C71"/>
                </a:solidFill>
              </a:rPr>
              <a:t>•  Analytics Dashboard</a:t>
            </a:r>
          </a:p>
          <a:p>
            <a:pPr algn="l">
              <a:spcAft>
                <a:spcPts val="100"/>
              </a:spcAft>
            </a:pPr>
            <a:r>
              <a:rPr sz="1100" b="0">
                <a:solidFill>
                  <a:srgbClr val="323C71"/>
                </a:solidFill>
              </a:rPr>
              <a:t>•  Event Timeline</a:t>
            </a:r>
          </a:p>
          <a:p>
            <a:pPr algn="l">
              <a:spcAft>
                <a:spcPts val="500"/>
              </a:spcAft>
            </a:pPr>
            <a:r>
              <a:rPr sz="1100" b="0">
                <a:solidFill>
                  <a:srgbClr val="323C71"/>
                </a:solidFill>
              </a:rPr>
              <a:t>•  Demo Mode</a:t>
            </a:r>
          </a:p>
          <a:p>
            <a:pPr algn="l">
              <a:spcAft>
                <a:spcPts val="200"/>
              </a:spcAft>
            </a:pPr>
            <a:r>
              <a:rPr sz="1200" b="1">
                <a:solidFill>
                  <a:srgbClr val="323C71"/>
                </a:solidFill>
              </a:rPr>
              <a:t>Key Outcomes</a:t>
            </a:r>
          </a:p>
          <a:p>
            <a:pPr algn="l">
              <a:spcAft>
                <a:spcPts val="100"/>
              </a:spcAft>
            </a:pPr>
            <a:r>
              <a:rPr sz="1100" b="0">
                <a:solidFill>
                  <a:srgbClr val="323C71"/>
                </a:solidFill>
              </a:rPr>
              <a:t>•  Built an end-to-end Smart Parking Ecosystem.</a:t>
            </a:r>
          </a:p>
          <a:p>
            <a:pPr algn="l">
              <a:spcAft>
                <a:spcPts val="100"/>
              </a:spcAft>
            </a:pPr>
            <a:r>
              <a:rPr sz="1100" b="0">
                <a:solidFill>
                  <a:srgbClr val="323C71"/>
                </a:solidFill>
              </a:rPr>
              <a:t>•  Developed a modular and scalable architecture.</a:t>
            </a:r>
          </a:p>
          <a:p>
            <a:pPr algn="l">
              <a:spcAft>
                <a:spcPts val="100"/>
              </a:spcAft>
            </a:pPr>
            <a:r>
              <a:rPr sz="1100" b="0">
                <a:solidFill>
                  <a:srgbClr val="323C71"/>
                </a:solidFill>
              </a:rPr>
              <a:t>•  Automated vehicle recognition and parking monitoring.</a:t>
            </a:r>
          </a:p>
          <a:p>
            <a:pPr algn="l">
              <a:spcAft>
                <a:spcPts val="100"/>
              </a:spcAft>
            </a:pPr>
            <a:r>
              <a:rPr sz="1100" b="0">
                <a:solidFill>
                  <a:srgbClr val="323C71"/>
                </a:solidFill>
              </a:rPr>
              <a:t>•  Integrated AI-powered parking intelligence.</a:t>
            </a:r>
          </a:p>
          <a:p>
            <a:pPr algn="l">
              <a:spcAft>
                <a:spcPts val="100"/>
              </a:spcAft>
            </a:pPr>
            <a:r>
              <a:rPr sz="1100" b="0">
                <a:solidFill>
                  <a:srgbClr val="323C71"/>
                </a:solidFill>
              </a:rPr>
              <a:t>•  Created an interactive dashboard for monitoring and analytics.</a:t>
            </a:r>
          </a:p>
          <a:p>
            <a:pPr algn="l">
              <a:spcAft>
                <a:spcPts val="500"/>
              </a:spcAft>
            </a:pPr>
            <a:r>
              <a:rPr sz="1100" b="0">
                <a:solidFill>
                  <a:srgbClr val="323C71"/>
                </a:solidFill>
              </a:rPr>
              <a:t>•  Designed a presentation-ready demonstration platform.</a:t>
            </a:r>
          </a:p>
          <a:p>
            <a:pPr algn="l">
              <a:spcAft>
                <a:spcPts val="200"/>
              </a:spcAft>
            </a:pPr>
            <a:r>
              <a:rPr sz="1200" b="1">
                <a:solidFill>
                  <a:srgbClr val="323C71"/>
                </a:solidFill>
              </a:rPr>
              <a:t>Future Scope</a:t>
            </a:r>
          </a:p>
          <a:p>
            <a:pPr algn="l">
              <a:spcAft>
                <a:spcPts val="100"/>
              </a:spcAft>
            </a:pPr>
            <a:r>
              <a:rPr sz="1100" b="0">
                <a:solidFill>
                  <a:srgbClr val="323C71"/>
                </a:solidFill>
              </a:rPr>
              <a:t>•  Live CCTV Integration</a:t>
            </a:r>
          </a:p>
          <a:p>
            <a:pPr algn="l">
              <a:spcAft>
                <a:spcPts val="100"/>
              </a:spcAft>
            </a:pPr>
            <a:r>
              <a:rPr sz="1100" b="0">
                <a:solidFill>
                  <a:srgbClr val="323C71"/>
                </a:solidFill>
              </a:rPr>
              <a:t>•  Multi-Camera Support</a:t>
            </a:r>
          </a:p>
          <a:p>
            <a:pPr algn="l">
              <a:spcAft>
                <a:spcPts val="100"/>
              </a:spcAft>
            </a:pPr>
            <a:r>
              <a:rPr sz="1100" b="0">
                <a:solidFill>
                  <a:srgbClr val="323C71"/>
                </a:solidFill>
              </a:rPr>
              <a:t>•  Cloud Deployment</a:t>
            </a:r>
          </a:p>
          <a:p>
            <a:pPr algn="l">
              <a:spcAft>
                <a:spcPts val="100"/>
              </a:spcAft>
            </a:pPr>
            <a:r>
              <a:rPr sz="1100" b="0">
                <a:solidFill>
                  <a:srgbClr val="323C71"/>
                </a:solidFill>
              </a:rPr>
              <a:t>•  Predictive Parking Analytics</a:t>
            </a:r>
          </a:p>
          <a:p>
            <a:pPr algn="l">
              <a:spcAft>
                <a:spcPts val="0"/>
              </a:spcAft>
            </a:pPr>
            <a:r>
              <a:rPr sz="1100" b="0">
                <a:solidFill>
                  <a:srgbClr val="323C71"/>
                </a:solidFill>
              </a:rPr>
              <a:t>•  Digital Twin Integration</a:t>
            </a:r>
          </a:p>
        </p:txBody>
      </p:sp>
      <p:pic>
        <p:nvPicPr>
          <p:cNvPr id="12" name="Picture 2" descr="C:\Jan_may_2024\club\PES University - Logo - NEW.jpg"/>
          <p:cNvPicPr>
            <a:picLocks noChangeAspect="1" noChangeArrowheads="1"/>
          </p:cNvPicPr>
          <p:nvPr/>
        </p:nvPicPr>
        <p:blipFill>
          <a:blip r:embed="rId3"/>
          <a:srcRect/>
          <a:stretch>
            <a:fillRect/>
          </a:stretch>
        </p:blipFill>
        <p:spPr bwMode="auto">
          <a:xfrm>
            <a:off x="9826924" y="417196"/>
            <a:ext cx="2039495" cy="1045613"/>
          </a:xfrm>
          <a:prstGeom prst="rect">
            <a:avLst/>
          </a:prstGeom>
          <a:noFill/>
        </p:spPr>
      </p:pic>
      <p:pic>
        <p:nvPicPr>
          <p:cNvPr id="13" name="Picture 2"/>
          <p:cNvPicPr>
            <a:picLocks noChangeAspect="1" noChangeArrowheads="1"/>
          </p:cNvPicPr>
          <p:nvPr/>
        </p:nvPicPr>
        <p:blipFill>
          <a:blip r:embed="rId4"/>
          <a:srcRect/>
          <a:stretch>
            <a:fillRect/>
          </a:stretch>
        </p:blipFill>
        <p:spPr bwMode="auto">
          <a:xfrm>
            <a:off x="541337" y="187902"/>
            <a:ext cx="1173162" cy="1336859"/>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1638300" y="2514600"/>
            <a:ext cx="8915400" cy="4572000"/>
          </a:xfrm>
          <a:prstGeom prst="rect">
            <a:avLst/>
          </a:prstGeom>
          <a:noFill/>
          <a:ln>
            <a:noFill/>
          </a:ln>
        </p:spPr>
        <p:txBody>
          <a:bodyPr spcFirstLastPara="1" wrap="square" lIns="91425" tIns="45700" rIns="91425" bIns="45700" anchor="t" anchorCtr="0">
            <a:noAutofit/>
          </a:bodyPr>
          <a:lstStyle/>
          <a:p>
            <a:pPr algn="l">
              <a:spcAft>
                <a:spcPts val="0"/>
              </a:spcAft>
            </a:pPr>
          </a:p>
          <a:p>
            <a:pPr algn="l">
              <a:spcAft>
                <a:spcPts val="0"/>
              </a:spcAft>
            </a:pPr>
          </a:p>
          <a:p>
            <a:pPr algn="l">
              <a:spcAft>
                <a:spcPts val="0"/>
              </a:spcAft>
            </a:pPr>
          </a:p>
          <a:p>
            <a:pPr algn="l">
              <a:spcAft>
                <a:spcPts val="800"/>
              </a:spcAft>
            </a:pPr>
            <a:r>
              <a:rPr sz="1400" b="0">
                <a:solidFill>
                  <a:srgbClr val="323C71"/>
                </a:solidFill>
              </a:rPr>
              <a:t>ParkTwin AI demonstrates how Artificial Intelligence, Computer Vision, and modern web technologies can be integrated to build an end-to-end Smart Parking Ecosystem.</a:t>
            </a:r>
          </a:p>
          <a:p>
            <a:pPr algn="l">
              <a:spcAft>
                <a:spcPts val="800"/>
              </a:spcAft>
            </a:pPr>
            <a:r>
              <a:rPr sz="1400" b="0">
                <a:solidFill>
                  <a:srgbClr val="323C71"/>
                </a:solidFill>
              </a:rPr>
              <a:t>The platform combines vehicle detection, vehicle tracking, automatic license plate recognition, parking intelligence, and interactive visualization into a unified solution capable of supporting future smart parking infrastructure.</a:t>
            </a:r>
          </a:p>
          <a:p>
            <a:pPr algn="l">
              <a:spcAft>
                <a:spcPts val="400"/>
              </a:spcAft>
            </a:pPr>
            <a:r>
              <a:rPr sz="1400" b="1">
                <a:solidFill>
                  <a:srgbClr val="323C71"/>
                </a:solidFill>
              </a:rPr>
              <a:t>Key Takeaways</a:t>
            </a:r>
          </a:p>
          <a:p>
            <a:pPr algn="l">
              <a:spcAft>
                <a:spcPts val="300"/>
              </a:spcAft>
            </a:pPr>
            <a:r>
              <a:rPr sz="1400" b="0">
                <a:solidFill>
                  <a:srgbClr val="323C71"/>
                </a:solidFill>
              </a:rPr>
              <a:t>•  End-to-End Smart Parking Ecosystem</a:t>
            </a:r>
          </a:p>
          <a:p>
            <a:pPr algn="l">
              <a:spcAft>
                <a:spcPts val="300"/>
              </a:spcAft>
            </a:pPr>
            <a:r>
              <a:rPr sz="1400" b="0">
                <a:solidFill>
                  <a:srgbClr val="323C71"/>
                </a:solidFill>
              </a:rPr>
              <a:t>•  AI-Powered Parking Automation</a:t>
            </a:r>
          </a:p>
          <a:p>
            <a:pPr algn="l">
              <a:spcAft>
                <a:spcPts val="300"/>
              </a:spcAft>
            </a:pPr>
            <a:r>
              <a:rPr sz="1400" b="0">
                <a:solidFill>
                  <a:srgbClr val="323C71"/>
                </a:solidFill>
              </a:rPr>
              <a:t>•  Modular and Scalable Architecture</a:t>
            </a:r>
          </a:p>
          <a:p>
            <a:pPr algn="l">
              <a:spcAft>
                <a:spcPts val="300"/>
              </a:spcAft>
            </a:pPr>
            <a:r>
              <a:rPr sz="1400" b="0">
                <a:solidFill>
                  <a:srgbClr val="323C71"/>
                </a:solidFill>
              </a:rPr>
              <a:t>•  Interactive Monitoring Platform</a:t>
            </a:r>
          </a:p>
          <a:p>
            <a:pPr algn="l">
              <a:spcAft>
                <a:spcPts val="1000"/>
              </a:spcAft>
            </a:pPr>
            <a:r>
              <a:rPr sz="1400" b="0">
                <a:solidFill>
                  <a:srgbClr val="323C71"/>
                </a:solidFill>
              </a:rPr>
              <a:t>•  Future-Ready Design</a:t>
            </a:r>
          </a:p>
          <a:p>
            <a:pPr algn="ctr">
              <a:spcAft>
                <a:spcPts val="200"/>
              </a:spcAft>
            </a:pPr>
            <a:r>
              <a:rPr sz="2200" b="1">
                <a:solidFill>
                  <a:srgbClr val="323C71"/>
                </a:solidFill>
              </a:rPr>
              <a:t>THANK YOU</a:t>
            </a:r>
          </a:p>
          <a:p>
            <a:pPr algn="ctr">
              <a:spcAft>
                <a:spcPts val="0"/>
              </a:spcAft>
            </a:pPr>
            <a:r>
              <a:rPr sz="1600" b="0">
                <a:solidFill>
                  <a:srgbClr val="323C71"/>
                </a:solidFill>
              </a:rPr>
              <a:t>Questions?</a:t>
            </a:r>
          </a:p>
        </p:txBody>
      </p:sp>
      <p:sp>
        <p:nvSpPr>
          <p:cNvPr id="101" name="Google Shape;10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a:p>
        </p:txBody>
      </p:sp>
      <p:sp>
        <p:nvSpPr>
          <p:cNvPr id="11" name="Google Shape;107;p3"/>
          <p:cNvSpPr txBox="1">
            <a:spLocks/>
          </p:cNvSpPr>
          <p:nvPr/>
        </p:nvSpPr>
        <p:spPr>
          <a:xfrm>
            <a:off x="0" y="2512585"/>
            <a:ext cx="12192000" cy="1325563"/>
          </a:xfrm>
          <a:prstGeom prst="rect">
            <a:avLst/>
          </a:prstGeom>
          <a:noFill/>
          <a:ln>
            <a:noFill/>
          </a:ln>
        </p:spPr>
        <p:txBody>
          <a:bodyPr spcFirstLastPara="1" wrap="square" lIns="91425" tIns="45700" rIns="91425" bIns="45700" anchor="ctr" anchorCtr="0">
            <a:normAutofit/>
          </a:bodyPr>
          <a:lstStyle/>
          <a:p>
            <a:pPr algn="ctr">
              <a:spcAft>
                <a:spcPts val="0"/>
              </a:spcAft>
            </a:pPr>
            <a:r>
              <a:rPr sz="4000" b="1">
                <a:solidFill>
                  <a:srgbClr val="323C71"/>
                </a:solidFill>
              </a:rPr>
              <a:t>Conclusion</a:t>
            </a:r>
          </a:p>
        </p:txBody>
      </p:sp>
      <p:pic>
        <p:nvPicPr>
          <p:cNvPr id="12" name="Picture 2" descr="C:\Jan_may_2024\club\PES University - Logo - NEW.jpg"/>
          <p:cNvPicPr>
            <a:picLocks noChangeAspect="1" noChangeArrowheads="1"/>
          </p:cNvPicPr>
          <p:nvPr/>
        </p:nvPicPr>
        <p:blipFill>
          <a:blip r:embed="rId3"/>
          <a:srcRect/>
          <a:stretch>
            <a:fillRect/>
          </a:stretch>
        </p:blipFill>
        <p:spPr bwMode="auto">
          <a:xfrm>
            <a:off x="9826924" y="417196"/>
            <a:ext cx="2039495" cy="1045613"/>
          </a:xfrm>
          <a:prstGeom prst="rect">
            <a:avLst/>
          </a:prstGeom>
          <a:noFill/>
        </p:spPr>
      </p:pic>
      <p:pic>
        <p:nvPicPr>
          <p:cNvPr id="13" name="Picture 2"/>
          <p:cNvPicPr>
            <a:picLocks noChangeAspect="1" noChangeArrowheads="1"/>
          </p:cNvPicPr>
          <p:nvPr/>
        </p:nvPicPr>
        <p:blipFill>
          <a:blip r:embed="rId4"/>
          <a:srcRect/>
          <a:stretch>
            <a:fillRect/>
          </a:stretch>
        </p:blipFill>
        <p:spPr bwMode="auto">
          <a:xfrm>
            <a:off x="541337" y="187902"/>
            <a:ext cx="1173162" cy="1336859"/>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107</Words>
  <Application>Microsoft Office PowerPoint</Application>
  <PresentationFormat>Custom</PresentationFormat>
  <Paragraphs>29</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Slide 1</vt:lpstr>
      <vt:lpstr>Slide 2</vt:lpstr>
      <vt:lpstr>Slide 3</vt:lpstr>
      <vt:lpstr>Slide 4</vt:lpstr>
      <vt:lpstr>Slide 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ADMIN</cp:lastModifiedBy>
  <cp:revision>18</cp:revision>
  <dcterms:created xsi:type="dcterms:W3CDTF">2023-02-02T07:40:50Z</dcterms:created>
  <dcterms:modified xsi:type="dcterms:W3CDTF">2026-07-16T14:07:47Z</dcterms:modified>
</cp:coreProperties>
</file>